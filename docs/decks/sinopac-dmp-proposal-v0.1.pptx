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提案簡報初稿" id="{1fd9de67-9777-e3be-cfa1-49278100f71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報價初版（未稅）" id="{0ad616b5-1501-1f39-9dbe-dc08ed201753}">
          <p14:sldIdLst>
            <p14:sldId id="274"/>
            <p14:sldId id="275"/>
            <p14:sldId id="276"/>
            <p14:sldId id="277"/>
            <p14:sldId id="278"/>
          </p14:sldIdLst>
        </p14:section>
        <p14:section name="週一會前會" id="{80bcdd97-03ea-0c8c-3bef-76bf705b4cec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AltaTech · 內部草稿 v0.1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AA6"/>
                </a:solidFill>
              </a:rPr>
              <a:t>內部草稿 v0.1 · 2026-10-17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永豐金證券行為數據平台：舊平台 → GA360 遷移與 DMP 提案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客戶高階主管會議 2026-10-23（五）· AltaTech × Merkle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週一 10-19 會前會先對齊最後一節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今天要決定的事</a:t>
            </a:r>
            <a:endParaRPr lang="en-US" sz="2400" dirty="0"/>
          </a:p>
        </p:txBody>
      </p:sp>
      <p:sp>
        <p:nvSpPr>
          <p:cNvPr id="3" name="s2_card0"/>
          <p:cNvSpPr/>
          <p:nvPr/>
        </p:nvSpPr>
        <p:spPr>
          <a:xfrm>
            <a:off x="45720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舊平台到期前可以安全換掉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高階主管點頭：GA360 接埋點、DMP 接分析與營運；錢與人力都在表上</a:t>
            </a:r>
            <a:endParaRPr lang="en-US" sz="1400" dirty="0"/>
          </a:p>
        </p:txBody>
      </p:sp>
      <p:sp>
        <p:nvSpPr>
          <p:cNvPr id="7" name="s2_card1"/>
          <p:cNvSpPr/>
          <p:nvPr/>
        </p:nvSpPr>
        <p:spPr>
          <a:xfrm>
            <a:off x="329184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時程 v2.1 與 M0 十項待確認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專案負責人同意時程，11-02 kick-off 排得出來</a:t>
            </a:r>
            <a:endParaRPr lang="en-US" sz="1400" dirty="0"/>
          </a:p>
        </p:txBody>
      </p:sp>
      <p:sp>
        <p:nvSpPr>
          <p:cNvPr id="11" name="s2_card2"/>
          <p:cNvSpPr/>
          <p:nvPr/>
        </p:nvSpPr>
        <p:spPr>
          <a:xfrm>
            <a:off x="612648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Merkle 與我們講同一張圖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交接點是 BigQuery 匯出與橋接表，客戶面前一個說法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舊平台 2027-10-31 到期，70 億筆歷史與每天在用的營運流程都要接得住</a:t>
            </a:r>
            <a:endParaRPr lang="en-US" sz="2400" dirty="0"/>
          </a:p>
        </p:txBody>
      </p:sp>
      <p:sp>
        <p:nvSpPr>
          <p:cNvPr id="3" name="s3_stat0"/>
          <p:cNvSpPr/>
          <p:nvPr/>
        </p:nvSpPr>
        <p:spPr>
          <a:xfrm>
            <a:off x="457200" y="13258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2027-10-31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舊平台授權到期日</a:t>
            </a:r>
            <a:endParaRPr lang="en-US" sz="1400" dirty="0"/>
          </a:p>
        </p:txBody>
      </p:sp>
      <p:sp>
        <p:nvSpPr>
          <p:cNvPr id="6" name="s3_stat1"/>
          <p:cNvSpPr/>
          <p:nvPr/>
        </p:nvSpPr>
        <p:spPr>
          <a:xfrm>
            <a:off x="457200" y="29260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108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70 億筆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94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舊平台歷史行為事件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137160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行銷、數據分析、數位經營每天在用舊平台的報表、分群、標籤與名單推送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新埋點改由 GA360 收，歷史資料與營運功能需要一個落地的家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供應商評分表要求說清楚元件來源、授權與是否需付費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切換前要有並行期對帳，數字對得上才停寫舊平台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收埋點、DMP 接分析與營運，交接點是 BigQuery 匯出</a:t>
            </a:r>
            <a:endParaRPr lang="en-US" sz="2400" dirty="0"/>
          </a:p>
        </p:txBody>
      </p:sp>
      <p:sp>
        <p:nvSpPr>
          <p:cNvPr id="3" name="s4_merkle"/>
          <p:cNvSpPr/>
          <p:nvPr/>
        </p:nvSpPr>
        <p:spPr>
          <a:xfrm>
            <a:off x="457200" y="1325880"/>
            <a:ext cx="3246120" cy="2057400"/>
          </a:xfrm>
          <a:prstGeom prst="roundRect">
            <a:avLst>
              <a:gd name="adj" fmla="val 3556"/>
            </a:avLst>
          </a:prstGeom>
          <a:solidFill>
            <a:srgbClr val="EEF7F6"/>
          </a:solidFill>
          <a:ln/>
        </p:spPr>
      </p:sp>
      <p:sp>
        <p:nvSpPr>
          <p:cNvPr id="4" name="s4_alta"/>
          <p:cNvSpPr/>
          <p:nvPr/>
        </p:nvSpPr>
        <p:spPr>
          <a:xfrm>
            <a:off x="3977640" y="1325880"/>
            <a:ext cx="470916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Merkle 負責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AltaTech 負責</a:t>
            </a:r>
            <a:endParaRPr lang="en-US" sz="1400" dirty="0"/>
          </a:p>
        </p:txBody>
      </p:sp>
      <p:sp>
        <p:nvSpPr>
          <p:cNvPr id="7" name="s4_b1"/>
          <p:cNvSpPr/>
          <p:nvPr/>
        </p:nvSpPr>
        <p:spPr>
          <a:xfrm>
            <a:off x="6400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GA360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埋點</a:t>
            </a:r>
            <a:endParaRPr lang="en-US" sz="1400" dirty="0"/>
          </a:p>
        </p:txBody>
      </p:sp>
      <p:sp>
        <p:nvSpPr>
          <p:cNvPr id="9" name="s4_b2"/>
          <p:cNvSpPr/>
          <p:nvPr/>
        </p:nvSpPr>
        <p:spPr>
          <a:xfrm>
            <a:off x="22402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BigQuery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匯出</a:t>
            </a:r>
            <a:endParaRPr lang="en-US" sz="1400" dirty="0"/>
          </a:p>
        </p:txBody>
      </p:sp>
      <p:sp>
        <p:nvSpPr>
          <p:cNvPr id="11" name="s4_b3"/>
          <p:cNvSpPr/>
          <p:nvPr/>
        </p:nvSpPr>
        <p:spPr>
          <a:xfrm>
            <a:off x="41605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519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DMP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ClickHouse</a:t>
            </a:r>
            <a:endParaRPr lang="en-US" sz="1400" dirty="0"/>
          </a:p>
        </p:txBody>
      </p:sp>
      <p:sp>
        <p:nvSpPr>
          <p:cNvPr id="13" name="s4_b4"/>
          <p:cNvSpPr/>
          <p:nvPr/>
        </p:nvSpPr>
        <p:spPr>
          <a:xfrm>
            <a:off x="57607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21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分析・分群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標籤・推送</a:t>
            </a:r>
            <a:endParaRPr lang="en-US" sz="1400" dirty="0"/>
          </a:p>
        </p:txBody>
      </p:sp>
      <p:sp>
        <p:nvSpPr>
          <p:cNvPr id="15" name="s4_b5"/>
          <p:cNvSpPr/>
          <p:nvPr/>
        </p:nvSpPr>
        <p:spPr>
          <a:xfrm>
            <a:off x="7315200" y="1920240"/>
            <a:ext cx="118872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0" y="2029968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MA／CRM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4_b6"/>
          <p:cNvSpPr/>
          <p:nvPr/>
        </p:nvSpPr>
        <p:spPr>
          <a:xfrm>
            <a:off x="4160520" y="324612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335584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舊平台歷史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70 億筆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↑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32918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歷史資料經橋接表轉成同一套事件口徑，與 GA360 新資料在 DMP 會合，客戶代碼銜接 OneID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6118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分工線：埋點、GTM、GA360 設定、BigQuery 匯出與 Google 端 SLA 歸 Merkle；匯出之後的載入、OneID、分析、營運、歷史銜接與對帳工具歸 AltaTech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給 Google 口徑的報表，證券業要的交易結合與可推送名單在 DMP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需求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GA360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DMP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行為 × 交易結合分析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沒有交易資料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數據中台交易事件入倉，與行為同一張表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客戶代碼銜接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只有 user_id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歷史與新埋點歸到同一 OneID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可推送的名單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受眾主要用於 Google 廣告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Webhook 推送 MA／CRM，含審批與增量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自定義 SQL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需另開 BigQuery 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唯讀沙盒、依權限表目錄、自動脫敏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本地保存與審計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資料在 Google 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本地保存，全操作審計與匯出浮水印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對外說法：GA360 看 Google 口徑，DMP 看本地口徑與交易結合，兩者互補不取代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四天做出程式級第一版，五種角色都能在示範站操作</a:t>
            </a:r>
            <a:endParaRPr lang="en-US" sz="2400" dirty="0"/>
          </a:p>
        </p:txBody>
      </p:sp>
      <p:sp>
        <p:nvSpPr>
          <p:cNvPr id="3" name="s6_stat0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139 / 174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OpenAPI 路徑已實作</a:t>
            </a:r>
            <a:endParaRPr lang="en-US" sz="1400" dirty="0"/>
          </a:p>
        </p:txBody>
      </p:sp>
      <p:sp>
        <p:nvSpPr>
          <p:cNvPr id="6" name="s6_stat1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18 組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自動化自測，含真 ClickHouse 端到端</a:t>
            </a:r>
            <a:endParaRPr lang="en-US" sz="1400" dirty="0"/>
          </a:p>
        </p:txBody>
      </p:sp>
      <p:sp>
        <p:nvSpPr>
          <p:cNvPr id="9" name="s6_stat2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 種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角色權限可在示範站切換演示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示範站：altatech-dmp.vercel.app（合成資料，不含客戶資料）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 對真後端跑瀏覽器主線：登入 → 事件分析 → 書籤 → 看板 → 推送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數字截至 2026-10-17（docs/31 §1）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現場操作三段各 4 分鐘：先講舊平台怎麼做，再操作，最後回到需求表編號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4023360"/>
                <a:gridCol w="21031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段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步驟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要講的點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① 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數位開戶轉換看板 → 事件分析改分組 → 存書籤進看板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口徑與舊平台一致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② 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數位經營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分群估數 → 標籤 RFM 分布 → 推送單到 CRM → 交付紀錄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名單不出庫、要審批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③ 治理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資訊管理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權限中心模擬行銷角色 → 日誌告警 → 資料流與 SLA → 系統監控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可審計、可監控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對應需求表 A4／A5／C2／C5／D4／E3；備一台本機真後端當備援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歷史資料分六步過來，三方對帳決定何時切換</a:t>
            </a:r>
            <a:endParaRPr lang="en-US" sz="2400" dirty="0"/>
          </a:p>
        </p:txBody>
      </p:sp>
      <p:sp>
        <p:nvSpPr>
          <p:cNvPr id="3" name="s8_step0"/>
          <p:cNvSpPr/>
          <p:nvPr/>
        </p:nvSpPr>
        <p:spPr>
          <a:xfrm>
            <a:off x="45720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盤點</a:t>
            </a:r>
            <a:endParaRPr lang="en-US" sz="1400" dirty="0"/>
          </a:p>
        </p:txBody>
      </p:sp>
      <p:sp>
        <p:nvSpPr>
          <p:cNvPr id="6" name="s8_step1"/>
          <p:cNvSpPr/>
          <p:nvPr/>
        </p:nvSpPr>
        <p:spPr>
          <a:xfrm>
            <a:off x="1856232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65960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47672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必留清單</a:t>
            </a:r>
            <a:endParaRPr lang="en-US" sz="1400" dirty="0"/>
          </a:p>
        </p:txBody>
      </p:sp>
      <p:sp>
        <p:nvSpPr>
          <p:cNvPr id="9" name="s8_step2"/>
          <p:cNvSpPr/>
          <p:nvPr/>
        </p:nvSpPr>
        <p:spPr>
          <a:xfrm>
            <a:off x="3255264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992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導出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Impala／HDFS</a:t>
            </a:r>
            <a:endParaRPr lang="en-US" sz="1400" dirty="0"/>
          </a:p>
        </p:txBody>
      </p:sp>
      <p:sp>
        <p:nvSpPr>
          <p:cNvPr id="12" name="s8_step3"/>
          <p:cNvSpPr/>
          <p:nvPr/>
        </p:nvSpPr>
        <p:spPr>
          <a:xfrm>
            <a:off x="4654296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64024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45736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橋接表</a:t>
            </a:r>
            <a:endParaRPr lang="en-US" sz="1400" dirty="0"/>
          </a:p>
        </p:txBody>
      </p:sp>
      <p:sp>
        <p:nvSpPr>
          <p:cNvPr id="15" name="s8_step4"/>
          <p:cNvSpPr/>
          <p:nvPr/>
        </p:nvSpPr>
        <p:spPr>
          <a:xfrm>
            <a:off x="6053328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63056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載入</a:t>
            </a:r>
            <a:endParaRPr lang="en-US" sz="1400" dirty="0"/>
          </a:p>
        </p:txBody>
      </p:sp>
      <p:sp>
        <p:nvSpPr>
          <p:cNvPr id="18" name="s8_step5"/>
          <p:cNvSpPr/>
          <p:nvPr/>
        </p:nvSpPr>
        <p:spPr>
          <a:xfrm>
            <a:off x="745236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6208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三方對帳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T1–T9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M1（11-20）拿 1 個月真樣本導出載入，M2（12-18）跑完 70 億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並行期從 M3（2027-01）起，每日 T5／T6 對帳，差異 &gt; 5% 開埋點修正單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切換以差異門檻決定，PD 後 4 週補導最終增量與最終對帳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與 Merkle 的交接點有四個，橋接表作為埋點規範附件</a:t>
            </a:r>
            <a:endParaRPr lang="en-US" sz="2400" dirty="0"/>
          </a:p>
        </p:txBody>
      </p:sp>
      <p:sp>
        <p:nvSpPr>
          <p:cNvPr id="3" name="s9_card0"/>
          <p:cNvSpPr/>
          <p:nvPr/>
        </p:nvSpPr>
        <p:spPr>
          <a:xfrm>
            <a:off x="45720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s9_dot0"/>
          <p:cNvSpPr/>
          <p:nvPr/>
        </p:nvSpPr>
        <p:spPr>
          <a:xfrm>
            <a:off x="68580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埋點規範與事件命名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舊平台事件名 → GA4 事件名的橋接表由我們產，Merkle 依此埋點</a:t>
            </a:r>
            <a:endParaRPr lang="en-US" sz="1300" dirty="0"/>
          </a:p>
        </p:txBody>
      </p:sp>
      <p:sp>
        <p:nvSpPr>
          <p:cNvPr id="8" name="s9_card1"/>
          <p:cNvSpPr/>
          <p:nvPr/>
        </p:nvSpPr>
        <p:spPr>
          <a:xfrm>
            <a:off x="466344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9" name="s9_dot1"/>
          <p:cNvSpPr/>
          <p:nvPr/>
        </p:nvSpPr>
        <p:spPr>
          <a:xfrm>
            <a:off x="489204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BigQuery 匯出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日批前日全量＋串流 intraday；72 小時重寫；GA4 標準 schema</a:t>
            </a:r>
            <a:endParaRPr lang="en-US" sz="1300" dirty="0"/>
          </a:p>
        </p:txBody>
      </p:sp>
      <p:sp>
        <p:nvSpPr>
          <p:cNvPr id="13" name="s9_card2"/>
          <p:cNvSpPr/>
          <p:nvPr/>
        </p:nvSpPr>
        <p:spPr>
          <a:xfrm>
            <a:off x="45720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s9_dot2"/>
          <p:cNvSpPr/>
          <p:nvPr/>
        </p:nvSpPr>
        <p:spPr>
          <a:xfrm>
            <a:off x="68580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user_id 口徑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登入後 user_id = 客戶代碼（HMAC），與舊平台登入 ID 同一把金鑰</a:t>
            </a:r>
            <a:endParaRPr lang="en-US" sz="1300" dirty="0"/>
          </a:p>
        </p:txBody>
      </p:sp>
      <p:sp>
        <p:nvSpPr>
          <p:cNvPr id="18" name="s9_card3"/>
          <p:cNvSpPr/>
          <p:nvPr/>
        </p:nvSpPr>
        <p:spPr>
          <a:xfrm>
            <a:off x="466344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s9_dot3"/>
          <p:cNvSpPr/>
          <p:nvPr/>
        </p:nvSpPr>
        <p:spPr>
          <a:xfrm>
            <a:off x="489204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並行期對帳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每日 T5／T6，只放筆數與差異率；修正單 SLA 由雙方約定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UAT 2027-06-30、正式上線 2027-09-30，比舊平台到期早 31 天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011680"/>
                <a:gridCol w="402336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里程碑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日期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退出重點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M0 決策與環境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2026-11-02 ～ 11-13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十項待確認拍板、測試環境、真 IdP 接通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M1 盤點與橋接表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2026-11-20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必留清單確認、橋接表交 Merkle、1 個月真樣本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M2 歷史資料進倉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2026-12-18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 億載入、10 億效能基準回填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M3 GA360 接入與並行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2027-01-22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GA360 真匯出接入，並行期與每日對帳開始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M4 交易結合與營運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2027-02-26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交易真資料、結合分析、舊平台分群標籤重建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M5 內部驗收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2027-03-26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安全強化、DR 演練、切換演練、操作手冊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UAT／PD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2027-06-30／09-30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客戶驗收 T1–T9；正式上線、舊平台停寫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AltaTech 七人加 ClickHouse 顧問 20 天，三位服務過本客戶舊平台系統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48640"/>
                <a:gridCol w="502920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負責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需求落差簽認、口徑與橋接表、驗收案例與手冊架構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R1 資料與查詢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接入、OneID、查詢編譯、ClickHouse 效能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R2 應用與前端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API、分群標籤推送、權限、前端與示範站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PM（服務過舊平台）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時程與退出條件、十項待確認、三方協作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A（服務過舊平台）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舊平台盤點、必留清單、T1–T9 對帳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教育訓練、看板重構、上線後交付調優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運維（服務過舊平台）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舊平台導出、環境建置、監控與備份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全員用 Claude Team 協同產出文件、對帳與測試；客戶端需要窗口、決策會與 UAT 人員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四項主要風險都有門檻與退路，最大的一塊是真資料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風險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對策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真資料對不上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M1 就拿 1 個月真樣本，M2 跑 70 億，不等到 UAT 才發現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規模未在 10 億級驗證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M2 做 10 億效能基準，實測後回填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並行差異不收斂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每日 T5／T6 對帳，差異 &gt; 5% 開埋點修正單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待確認項逾期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M0 決策會，每項附建議預設值與截止日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全部採 OSI 開源授權，客戶要付的是基礎設施、GA360 與人力</a:t>
            </a:r>
            <a:endParaRPr lang="en-US" sz="2400" dirty="0"/>
          </a:p>
        </p:txBody>
      </p:sp>
      <p:sp>
        <p:nvSpPr>
          <p:cNvPr id="3" name="s13_stat0"/>
          <p:cNvSpPr/>
          <p:nvPr/>
        </p:nvSpPr>
        <p:spPr>
          <a:xfrm>
            <a:off x="45720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必付授權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第一階段元件皆為開源授權</a:t>
            </a:r>
            <a:endParaRPr lang="en-US" sz="1200" dirty="0"/>
          </a:p>
        </p:txBody>
      </p:sp>
      <p:sp>
        <p:nvSpPr>
          <p:cNvPr id="7" name="s13_stat1"/>
          <p:cNvSpPr/>
          <p:nvPr/>
        </p:nvSpPr>
        <p:spPr>
          <a:xfrm>
            <a:off x="260604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copyleft 元件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Grafana OSS，僅內部使用、不散布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37160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客戶付費：GCP 或機房、GA360 與 BigQuery 用量、LINE 訊息方案、專案人力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可選付費：雲端託管、企業支援合約，不是必要條件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每個元件的來源、授權、是否需商用付費列在規格書附錄 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部署可選 GCP 或機房，同一套 Helm、監控、備份與 DR</a:t>
            </a:r>
            <a:endParaRPr lang="en-US" sz="2400" dirty="0"/>
          </a:p>
        </p:txBody>
      </p:sp>
      <p:sp>
        <p:nvSpPr>
          <p:cNvPr id="3" name="s14_card0"/>
          <p:cNvSpPr/>
          <p:nvPr/>
        </p:nvSpPr>
        <p:spPr>
          <a:xfrm>
            <a:off x="45720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GCP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區域 asia-east1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GCS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用量計費，擴充快</a:t>
            </a:r>
            <a:endParaRPr lang="en-US" sz="1500" dirty="0"/>
          </a:p>
        </p:txBody>
      </p:sp>
      <p:sp>
        <p:nvSpPr>
          <p:cNvPr id="6" name="s14_card1"/>
          <p:cNvSpPr/>
          <p:nvPr/>
        </p:nvSpPr>
        <p:spPr>
          <a:xfrm>
            <a:off x="466344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客戶機房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RKE2 Kubernetes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SeaweedFS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資料不出機房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機器檔位 A 檔 6 台或 D 檔 3 台，M0 決策會拍板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機房部署：Kubernetes 上只有五個有狀態服務，其餘全是無狀態應用</a:t>
            </a:r>
            <a:endParaRPr lang="en-US" sz="2400" dirty="0"/>
          </a:p>
        </p:txBody>
      </p:sp>
      <p:sp>
        <p:nvSpPr>
          <p:cNvPr id="3" name="s14b_app"/>
          <p:cNvSpPr/>
          <p:nvPr/>
        </p:nvSpPr>
        <p:spPr>
          <a:xfrm>
            <a:off x="457200" y="1188720"/>
            <a:ext cx="8229600" cy="841248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435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平台應用（無狀態 Deployment，映像 6 個：core／ingest／batch／agent／flink-jobs／web）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36192"/>
            <a:ext cx="4572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4088" y="1517904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dmp-web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前端靜態檔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00046" y="1481328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00046" y="1536192"/>
            <a:ext cx="4572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309774" y="1517904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dmp-core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API、語意層、分群、OneID、同步、推送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05733" y="1481328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05733" y="1536192"/>
            <a:ext cx="4572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915461" y="1517904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dmp-ingest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Collector：直送 /v1/events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11419" y="1481328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11419" y="1536192"/>
            <a:ext cx="4572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21147" y="1517904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dmp-batch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Airflow ＋ dbt 日批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17106" y="1481328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17106" y="1536192"/>
            <a:ext cx="4572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26834" y="1517904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dmp-agent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MCP 閘道（第二階段）</a:t>
            </a:r>
            <a:endParaRPr lang="en-US" sz="1050" dirty="0"/>
          </a:p>
        </p:txBody>
      </p:sp>
      <p:sp>
        <p:nvSpPr>
          <p:cNvPr id="20" name="s14b_k8s"/>
          <p:cNvSpPr/>
          <p:nvPr/>
        </p:nvSpPr>
        <p:spPr>
          <a:xfrm>
            <a:off x="457200" y="2103120"/>
            <a:ext cx="8229600" cy="1572768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1579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Kubernetes（RKE2 1.30+，3 個 control-plane 與 worker 共存於 3–6 台）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359152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992"/>
                </a:solidFill>
              </a:rPr>
              <a:t>資料層：有狀態、Operator 管理、本地 NVMe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4360" y="2542032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2596896"/>
            <a:ext cx="45720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4088" y="2578608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ClickHouse 2×2 ＋ Keeper ×3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事件倉、MV、Bitmap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200046" y="2542032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00046" y="2596896"/>
            <a:ext cx="45720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09774" y="2578608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PostgreSQL 16 ×2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CloudNativePG；控制面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805733" y="2542032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05733" y="2596896"/>
            <a:ext cx="45720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915461" y="2578608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Valkey 8 ×3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快取、佇列、即時標籤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11419" y="2542032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11419" y="2596896"/>
            <a:ext cx="45720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521147" y="2578608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Kafka 3.8 KRaft ×3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Strimzi；推送、原始事件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017106" y="2542032"/>
            <a:ext cx="1532534" cy="457200"/>
          </a:xfrm>
          <a:prstGeom prst="roundRect">
            <a:avLst>
              <a:gd name="adj" fmla="val 10000"/>
            </a:avLst>
          </a:prstGeom>
          <a:solidFill>
            <a:srgbClr val="E9F0FD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17106" y="2596896"/>
            <a:ext cx="45720" cy="34747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126834" y="2578608"/>
            <a:ext cx="13862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SeaweedFS（S3）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冷層、備份、同步輸出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3044952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992"/>
                </a:solidFill>
              </a:rPr>
              <a:t>平台層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04088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Keycloak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SSO／OIDC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932432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32432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042160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OpenBao ＋ HSM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密鑰只存參照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270504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70504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380232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Prometheus ＋ Grafana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指標、告警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608576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08576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18304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VictoriaLogs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日誌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946648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46648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056376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Harbor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映像倉 ＋ Trivy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284720" y="3218688"/>
            <a:ext cx="1264920" cy="384048"/>
          </a:xfrm>
          <a:prstGeom prst="roundRect">
            <a:avLst>
              <a:gd name="adj" fmla="val 11905"/>
            </a:avLst>
          </a:prstGeom>
          <a:solidFill>
            <a:srgbClr val="E9F0FD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84720" y="3273552"/>
            <a:ext cx="45720" cy="274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394448" y="3255264"/>
            <a:ext cx="1118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Ingress ＋ MetalLB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入口與 VIP</a:t>
            </a:r>
            <a:endParaRPr lang="en-US" sz="1050" dirty="0"/>
          </a:p>
        </p:txBody>
      </p:sp>
      <p:sp>
        <p:nvSpPr>
          <p:cNvPr id="57" name="s14b_node"/>
          <p:cNvSpPr/>
          <p:nvPr/>
        </p:nvSpPr>
        <p:spPr>
          <a:xfrm>
            <a:off x="457200" y="3767328"/>
            <a:ext cx="822960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94360" y="38221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8992"/>
                </a:solidFill>
              </a:rPr>
              <a:t>每個節點（DaemonSet）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94360" y="4023360"/>
            <a:ext cx="1933956" cy="274320"/>
          </a:xfrm>
          <a:prstGeom prst="roundRect">
            <a:avLst>
              <a:gd name="adj" fmla="val 16667"/>
            </a:avLst>
          </a:prstGeom>
          <a:solidFill>
            <a:srgbClr val="E9F0FD"/>
          </a:solidFill>
          <a:ln w="9525">
            <a:solidFill>
              <a:srgbClr val="7C899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94360" y="4078224"/>
            <a:ext cx="45720" cy="164592"/>
          </a:xfrm>
          <a:prstGeom prst="rect">
            <a:avLst/>
          </a:prstGeom>
          <a:solidFill>
            <a:srgbClr val="7C8992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04088" y="4059936"/>
            <a:ext cx="1787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node-exporter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主機指標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601468" y="4023360"/>
            <a:ext cx="1933956" cy="274320"/>
          </a:xfrm>
          <a:prstGeom prst="roundRect">
            <a:avLst>
              <a:gd name="adj" fmla="val 16667"/>
            </a:avLst>
          </a:prstGeom>
          <a:solidFill>
            <a:srgbClr val="E9F0FD"/>
          </a:solidFill>
          <a:ln w="9525">
            <a:solidFill>
              <a:srgbClr val="7C899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601468" y="4078224"/>
            <a:ext cx="45720" cy="164592"/>
          </a:xfrm>
          <a:prstGeom prst="rect">
            <a:avLst/>
          </a:prstGeom>
          <a:solidFill>
            <a:srgbClr val="7C8992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711196" y="4059936"/>
            <a:ext cx="1787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OTel Collector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日誌與追蹤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608576" y="4023360"/>
            <a:ext cx="1933956" cy="274320"/>
          </a:xfrm>
          <a:prstGeom prst="roundRect">
            <a:avLst>
              <a:gd name="adj" fmla="val 16667"/>
            </a:avLst>
          </a:prstGeom>
          <a:solidFill>
            <a:srgbClr val="E9F0FD"/>
          </a:solidFill>
          <a:ln w="9525">
            <a:solidFill>
              <a:srgbClr val="7C899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608576" y="4078224"/>
            <a:ext cx="45720" cy="164592"/>
          </a:xfrm>
          <a:prstGeom prst="rect">
            <a:avLst/>
          </a:prstGeom>
          <a:solidFill>
            <a:srgbClr val="7C8992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718304" y="4059936"/>
            <a:ext cx="1787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LocalPV（OpenEBS）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NVMe 給 ClickHouse／Kafka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6615684" y="4023360"/>
            <a:ext cx="1933956" cy="274320"/>
          </a:xfrm>
          <a:prstGeom prst="roundRect">
            <a:avLst>
              <a:gd name="adj" fmla="val 16667"/>
            </a:avLst>
          </a:prstGeom>
          <a:solidFill>
            <a:srgbClr val="E9F0FD"/>
          </a:solidFill>
          <a:ln w="9525">
            <a:solidFill>
              <a:srgbClr val="7C899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615684" y="4078224"/>
            <a:ext cx="45720" cy="164592"/>
          </a:xfrm>
          <a:prstGeom prst="rect">
            <a:avLst/>
          </a:prstGeom>
          <a:solidFill>
            <a:srgbClr val="7C8992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725412" y="4059936"/>
            <a:ext cx="1787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RHEL 9／Rocky 9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7C8992"/>
                </a:solidFill>
              </a:rPr>
              <a:t>SELinux；容器無 root、唯讀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457200" y="44074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備份：ClickHouse BACKUP TO S3、PostgreSQL WAL；HA：ClickHouse 雙副本、PostgreSQL 主從、Kafka／Keeper 三節點。對照 2025/07 舊棧約 20 個元件（Hadoop／Hive／HBase／RocketMQ／MySQL 5.7…）：有狀態服務降到 5 個，沒有 EOL 版本、沒有改寫版。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開源元件（一）資料與計算：全部上游 LTS、OSI 授權、有 Operator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514600"/>
                <a:gridCol w="914400"/>
                <a:gridCol w="868680"/>
                <a:gridCol w="31546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類別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元件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版本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授權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功能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分析存儲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ClickHouse ＋ Keeper（Altinity operator）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25.8 LTS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事件倉、MV 聚合層、Bitmap、用戶檔案字典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分析存儲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SeaweedFS（機房）／GCS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3.x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S3：冷層、原始事件、備份、同步輸出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線上存儲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PostgreSQL ＋ pgvector（CloudNativePG）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PostgreSQL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控制面：看板、分群、審批、審計索引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線上存儲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Valkey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BSD-3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快取、工作佇列、即時標籤（第二階段）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訊息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 Kafka（KRaft，Strimzi）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3.8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推送更新、原始事件落地；二階段即時觸發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計算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 Airflow ＋ dbt-core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2.10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日批排程與 SQL 轉換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計算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 Flink ＋ K8s Operator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1.20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二階段：即時觸發 CEP（套件含、未啟用）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計算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 Spark／Trino／Iceberg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3.5／4xx／1.6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二階段：70 億歷史重算、冷層查詢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988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992"/>
                </a:solidFill>
              </a:rPr>
              <a:t>版本為 2026-10 的 LTS，M1 開工時依當時 LTS 重釘；原則不變：上游版本、不改寫、OSI 授權、有 Operator 或託管版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開源元件（二）平台、身分、觀測與執行環境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651760"/>
                <a:gridCol w="914400"/>
                <a:gridCol w="1188720"/>
                <a:gridCol w="26974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類別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元件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版本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授權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功能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容器平台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Kubernetes（RKE2）／GKE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1.30+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容器編排；3 個 control-plane 與 worker 共存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容器平台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Helm、OpenTofu、Harbor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3／1.8／2.x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Apache-2.0／MPL-2.0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umbrella chart；IaC；離線映像倉 ＋ Trivy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身分與密鑰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Keycloak；OpenBao ＋ HSM（GCP：Secret Manager ＋ KMS）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25；2.x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Apache-2.0；MPL-2.0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SSO／OIDC；密鑰只存參照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觀測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Prometheus ＋ OTel Collector ＋ node-exporter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2.x／0.1x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指標與告警；平台「系統監控」頁同源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觀測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Grafana OSS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11.x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AGPL-3.0（內部使用）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監控看板；不修改、不散布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觀測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VictoriaLogs（或 OpenSearch）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1.x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Apache-2.0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日誌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執行環境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Python／Go／Node／Temurin JDK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3.12／1.23／22／17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PSF／BSD／MIT／GPL+CE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core／ingest／web／Flink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作業系統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RHEL 9／Rocky 9；UBI 9 minimal 映像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9.4+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SELinux；容器無 root、唯讀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988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C8992"/>
                </a:solidFill>
              </a:rPr>
              <a:t>必付授權 0；copyleft 只有 Grafana OSS（內部使用）。刻意不用：Redis ≥ 7.4、MinIO、Elasticsearch（SSPL／AGPL）、Vault／Terraform（BSL）、Confluent 社群授權元件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M0 要客戶拍板十項，11-13 前決定</a:t>
            </a:r>
            <a:endParaRPr lang="en-US" sz="2400" dirty="0"/>
          </a:p>
        </p:txBody>
      </p:sp>
      <p:sp>
        <p:nvSpPr>
          <p:cNvPr id="3" name="s15_col0"/>
          <p:cNvSpPr/>
          <p:nvPr/>
        </p:nvSpPr>
        <p:spPr>
          <a:xfrm>
            <a:off x="45720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1. 部署環境：GCP 或機房、機器檔位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2. 交易資料提供方式：批次或 Kafka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3. 身分：Entra ID／AD／Keycloak 與角色對照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4. 舊平台歷史導出方式與並行期長度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5. 隱私門檻：K 值、匯出上限、審計保存年限</a:t>
            </a:r>
            <a:endParaRPr lang="en-US" sz="1400" dirty="0"/>
          </a:p>
        </p:txBody>
      </p:sp>
      <p:sp>
        <p:nvSpPr>
          <p:cNvPr id="5" name="s15_col1"/>
          <p:cNvSpPr/>
          <p:nvPr/>
        </p:nvSpPr>
        <p:spPr>
          <a:xfrm>
            <a:off x="466344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6. 推送接收端規格與增量延遲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7. 自定義 SQL 開放對象與下載上限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8. AI 洞察的 LLM 供應方式與預算（二期）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9. 效能 SLA 在客戶規模實測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10. GA360 BigQuery 匯出區域與費用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報價初版（未稅）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依人員分工與人天單價直算，供內部定價討論；客戶版等週一與 Merkle 對完分工再出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人天單價：產品與研發 25,000，分析師與 CSM 16,000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4023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單價／人日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本案對應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PMO／產品經理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產品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研發 R1、R2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資料科學家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未編制；ClickHouse 顧問暫以此價計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PM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系統工程師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運維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CSM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未編制；列為選配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數據分析師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分析師 A、B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單位：新台幣，未稅；不含基礎設施、GA360／BigQuery、LINE 訊息方案與差旅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分階段：第一階段只做取代舊平台所必需的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部署安裝（測試＋正式）、SSO 與權限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GA360 BigQuery 匯出接入、數據中台交易批次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舊平台近 13 個月歷史導入與並行期對帳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六個分析模組、分群、標籤、名單推送（Webhook）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審批與審計、四個情境看板、一輪教育訓練</a:t>
            </a:r>
            <a:endParaRPr lang="en-US" sz="1500" dirty="0"/>
          </a:p>
        </p:txBody>
      </p:sp>
      <p:sp>
        <p:nvSpPr>
          <p:cNvPr id="4" name="s18_phase"/>
          <p:cNvSpPr/>
          <p:nvPr/>
        </p:nvSpPr>
        <p:spPr>
          <a:xfrm>
            <a:off x="5760720" y="132588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0" y="150876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第一階段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290 人天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規格外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後續模組，需要時再加；一律人天單價 × 人天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平台功能已大致完成，只計導入、接入、遷移、對帳與驗收；比較基準：舊平台年費約 6,000,000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第一階段 6,180,000 元未稅；保固一年，次年維運 20%</a:t>
            </a:r>
            <a:endParaRPr lang="en-US" sz="2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55448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人天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單價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1,750,000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1,250,000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480,000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系統工程師（運維）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第一階段合計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290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6,180,000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上線保固一年；次年起維運費＝合約 20%（1,236,000／年）。頭兩年約 7,416,000，低於兩年舊平台 12,000,000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規格外的放後續模組，需要時再加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後續模組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人天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金額（未稅）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間隔／分佈／Session／LTV 分析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1,160,000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CDP 標籤同步＋推送排除名單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950,000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AI 問數與洞察（接 LLM）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1,250,000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即時觸發（Flink 規則引擎）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1,900,000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舊平台歷史超過 13 個月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730,000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CSM 客戶成功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s20_opt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0" y="1371600"/>
            <a:ext cx="2560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出客戶版前要定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 固定總價或人天實報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2. 保固一年；次年維運＝合約 20%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3. 付款：簽約 30%、UAT 30%、上線 30%、驗收 10%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4. 規格更改只走 CR，人天另計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5. 客戶自備：GA360、BigQuery、GCP 或機房、LINE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 Merkle 分工：不含埋點與 GA360 設定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週一會前會：與 Merkle 對齊九點</a:t>
            </a:r>
            <a:endParaRPr lang="en-US" sz="2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5577840"/>
              </a:tblGrid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題目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要 Merkle 確認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分工線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埋點至 BigQuery 匯出歸 Merkle，匯出之後歸 AltaTech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事件命名與橋接表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橋接表作為埋點規範附件，變更雙方簽認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 匯出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合約是否含匯出與串流；GCP 專案與付費方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user_id 口徑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GTM 設定時機與來源；App SDK 由誰改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並行期與對帳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埋點修正單 SLA；對帳報表格式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時程相依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GA360 上線日與匯出開通日（M3 前）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簡報分工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Merkle 是否自備 2–3 張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不在客戶面前爭的事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同意「GA360 看 Google 口徑、DMP 看本地口徑」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商務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雙方各自報價；採購時程配合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下一步</a:t>
            </a:r>
            <a:endParaRPr lang="en-US" sz="2400" dirty="0"/>
          </a:p>
        </p:txBody>
      </p:sp>
      <p:sp>
        <p:nvSpPr>
          <p:cNvPr id="3" name="s22_card0"/>
          <p:cNvSpPr/>
          <p:nvPr/>
        </p:nvSpPr>
        <p:spPr>
          <a:xfrm>
            <a:off x="45720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10-19（一）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Merkle 會前會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對齊九點，更新方案圖與交接點兩張</a:t>
            </a:r>
            <a:endParaRPr lang="en-US" sz="1300" dirty="0"/>
          </a:p>
        </p:txBody>
      </p:sp>
      <p:sp>
        <p:nvSpPr>
          <p:cNvPr id="7" name="s22_card1"/>
          <p:cNvSpPr/>
          <p:nvPr/>
        </p:nvSpPr>
        <p:spPr>
          <a:xfrm>
            <a:off x="256032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10-23（五）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客戶高階簡報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三段現場操作、時程與 M0 十項</a:t>
            </a:r>
            <a:endParaRPr lang="en-US" sz="1300" dirty="0"/>
          </a:p>
        </p:txBody>
      </p:sp>
      <p:sp>
        <p:nvSpPr>
          <p:cNvPr id="11" name="s22_card2"/>
          <p:cNvSpPr/>
          <p:nvPr/>
        </p:nvSpPr>
        <p:spPr>
          <a:xfrm>
            <a:off x="466344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10-26 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報價客戶版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定加成與付款節點後送出</a:t>
            </a:r>
            <a:endParaRPr lang="en-US" sz="1300" dirty="0"/>
          </a:p>
        </p:txBody>
      </p:sp>
      <p:sp>
        <p:nvSpPr>
          <p:cNvPr id="15" name="s22_card3"/>
          <p:cNvSpPr/>
          <p:nvPr/>
        </p:nvSpPr>
        <p:spPr>
          <a:xfrm>
            <a:off x="676656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11-02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Kick-off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M0 決策會議程與三方窗口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taTech DMP">
  <a:themeElements>
    <a:clrScheme name="AltaTech DMP">
      <a:dk1>
        <a:srgbClr val="1C2B33"/>
      </a:dk1>
      <a:lt1>
        <a:srgbClr val="FFFFFF"/>
      </a:lt1>
      <a:dk2>
        <a:srgbClr val="121E2B"/>
      </a:dk2>
      <a:lt2>
        <a:srgbClr val="F7F8FA"/>
      </a:lt2>
      <a:accent1>
        <a:srgbClr val="2C73EA"/>
      </a:accent1>
      <a:accent2>
        <a:srgbClr val="12B5A8"/>
      </a:accent2>
      <a:accent3>
        <a:srgbClr val="D8871F"/>
      </a:accent3>
      <a:accent4>
        <a:srgbClr val="6250D6"/>
      </a:accent4>
      <a:accent5>
        <a:srgbClr val="7C8992"/>
      </a:accent5>
      <a:accent6>
        <a:srgbClr val="E9F0FD"/>
      </a:accent6>
      <a:hlink>
        <a:srgbClr val="2C73EA"/>
      </a:hlink>
      <a:folHlink>
        <a:srgbClr val="6250D6"/>
      </a:folHlink>
    </a:clrScheme>
    <a:fontScheme name="AltaTech DMP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永豐金證券 DMP 提案簡報初稿與報價初版</dc:title>
  <dc:subject>PptxGenJS Presentation</dc:subject>
  <dc:creator>AltaTech</dc:creator>
  <cp:lastModifiedBy>AltaTech</cp:lastModifiedBy>
  <cp:revision>1</cp:revision>
  <dcterms:created xsi:type="dcterms:W3CDTF">2026-10-19T13:00:36Z</dcterms:created>
  <dcterms:modified xsi:type="dcterms:W3CDTF">2026-10-19T13:00:36Z</dcterms:modified>
</cp:coreProperties>
</file>