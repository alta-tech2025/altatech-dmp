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提案簡報初稿" id="{9278290d-5bb5-75b8-efe6-519d3b79b75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報價初版（未稅）" id="{0e6c6003-a473-a0df-6a34-9008d0a4a04f}">
          <p14:sldIdLst>
            <p14:sldId id="271"/>
            <p14:sldId id="272"/>
            <p14:sldId id="273"/>
            <p14:sldId id="274"/>
            <p14:sldId id="275"/>
          </p14:sldIdLst>
        </p14:section>
        <p14:section name="週一會前會" id="{2157167a-7c2d-d3a5-6bc9-2daef2834c53}">
          <p14:sldIdLst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2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6324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9D2D8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12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9D2D8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992"/>
                </a:solidFill>
              </a:rPr>
              <a:t>AltaTech · 內部草稿 v0.1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9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9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A9AA6"/>
                </a:solidFill>
              </a:rPr>
              <a:t>內部草稿 v0.1 · 2026-10-17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永豐金證券行為數據平台：神策 → GA360 遷移與 DMP 提案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0632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9D2D8"/>
                </a:solidFill>
              </a:rPr>
              <a:t>客戶高階主管會議 2026-10-23（五）· AltaTech × Merkle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C9D2D8"/>
                </a:solidFill>
              </a:rPr>
              <a:t>週一 10-19 會前會先對齊最後一節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今天要決定的事</a:t>
            </a:r>
            <a:endParaRPr lang="en-US" sz="2400" dirty="0"/>
          </a:p>
        </p:txBody>
      </p:sp>
      <p:sp>
        <p:nvSpPr>
          <p:cNvPr id="3" name="s2_card0"/>
          <p:cNvSpPr/>
          <p:nvPr/>
        </p:nvSpPr>
        <p:spPr>
          <a:xfrm>
            <a:off x="457200" y="1325880"/>
            <a:ext cx="2560320" cy="306324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54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945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神策到期前可以安全換掉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01752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高階主管點頭：GA360 接埋點、DMP 接分析與營運；錢與人力都在表上</a:t>
            </a:r>
            <a:endParaRPr lang="en-US" sz="1400" dirty="0"/>
          </a:p>
        </p:txBody>
      </p:sp>
      <p:sp>
        <p:nvSpPr>
          <p:cNvPr id="7" name="s2_card1"/>
          <p:cNvSpPr/>
          <p:nvPr/>
        </p:nvSpPr>
        <p:spPr>
          <a:xfrm>
            <a:off x="3291840" y="1325880"/>
            <a:ext cx="2560320" cy="306324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554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1945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時程 v2.1 與 M0 十項待確認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301752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專案負責人同意時程，11-02 kick-off 排得出來</a:t>
            </a:r>
            <a:endParaRPr lang="en-US" sz="1400" dirty="0"/>
          </a:p>
        </p:txBody>
      </p:sp>
      <p:sp>
        <p:nvSpPr>
          <p:cNvPr id="11" name="s2_card2"/>
          <p:cNvSpPr/>
          <p:nvPr/>
        </p:nvSpPr>
        <p:spPr>
          <a:xfrm>
            <a:off x="6126480" y="1325880"/>
            <a:ext cx="2560320" cy="306324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1554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1945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Merkle 與我們講同一張圖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301752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交接點是 BigQuery 匯出與橋接表，客戶面前一個說法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9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神策 2027-10-31 到期，70 億筆歷史與每天在用的營運流程都要接得住</a:t>
            </a:r>
            <a:endParaRPr lang="en-US" sz="2400" dirty="0"/>
          </a:p>
        </p:txBody>
      </p:sp>
      <p:sp>
        <p:nvSpPr>
          <p:cNvPr id="3" name="s3_stat0"/>
          <p:cNvSpPr/>
          <p:nvPr/>
        </p:nvSpPr>
        <p:spPr>
          <a:xfrm>
            <a:off x="457200" y="1325880"/>
            <a:ext cx="3291840" cy="1371600"/>
          </a:xfrm>
          <a:prstGeom prst="roundRect">
            <a:avLst>
              <a:gd name="adj" fmla="val 5333"/>
            </a:avLst>
          </a:prstGeom>
          <a:solidFill>
            <a:schemeClr val="accent6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2027-10-31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94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神策授權到期日</a:t>
            </a:r>
            <a:endParaRPr lang="en-US" sz="1400" dirty="0"/>
          </a:p>
        </p:txBody>
      </p:sp>
      <p:sp>
        <p:nvSpPr>
          <p:cNvPr id="6" name="s3_stat1"/>
          <p:cNvSpPr/>
          <p:nvPr/>
        </p:nvSpPr>
        <p:spPr>
          <a:xfrm>
            <a:off x="457200" y="2926080"/>
            <a:ext cx="3291840" cy="1371600"/>
          </a:xfrm>
          <a:prstGeom prst="roundRect">
            <a:avLst>
              <a:gd name="adj" fmla="val 5333"/>
            </a:avLst>
          </a:prstGeom>
          <a:solidFill>
            <a:schemeClr val="accent6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31089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70 億筆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794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神策歷史行為事件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137160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行銷、數據分析、數位經營每天在用神策的報表、分群、標籤與名單推送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新埋點改由 GA360 收，歷史資料與營運功能需要一個落地的家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供應商評分表要求說清楚元件來源、授權與是否需付費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切換前要有並行期對帳，數字對得上才停寫神策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9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GA360 收埋點、DMP 接分析與營運，交接點是 BigQuery 匯出</a:t>
            </a:r>
            <a:endParaRPr lang="en-US" sz="2400" dirty="0"/>
          </a:p>
        </p:txBody>
      </p:sp>
      <p:sp>
        <p:nvSpPr>
          <p:cNvPr id="3" name="s4_merkle"/>
          <p:cNvSpPr/>
          <p:nvPr/>
        </p:nvSpPr>
        <p:spPr>
          <a:xfrm>
            <a:off x="457200" y="1325880"/>
            <a:ext cx="3246120" cy="2057400"/>
          </a:xfrm>
          <a:prstGeom prst="roundRect">
            <a:avLst>
              <a:gd name="adj" fmla="val 3556"/>
            </a:avLst>
          </a:prstGeom>
          <a:solidFill>
            <a:srgbClr val="EEF7F6"/>
          </a:solidFill>
          <a:ln/>
        </p:spPr>
      </p:sp>
      <p:sp>
        <p:nvSpPr>
          <p:cNvPr id="4" name="s4_alta"/>
          <p:cNvSpPr/>
          <p:nvPr/>
        </p:nvSpPr>
        <p:spPr>
          <a:xfrm>
            <a:off x="3977640" y="1325880"/>
            <a:ext cx="4709160" cy="3108960"/>
          </a:xfrm>
          <a:prstGeom prst="roundRect">
            <a:avLst>
              <a:gd name="adj" fmla="val 2353"/>
            </a:avLst>
          </a:prstGeom>
          <a:solidFill>
            <a:schemeClr val="accent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Merkle 負責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16052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AltaTech 負責</a:t>
            </a:r>
            <a:endParaRPr lang="en-US" sz="1400" dirty="0"/>
          </a:p>
        </p:txBody>
      </p:sp>
      <p:sp>
        <p:nvSpPr>
          <p:cNvPr id="7" name="s4_b1"/>
          <p:cNvSpPr/>
          <p:nvPr/>
        </p:nvSpPr>
        <p:spPr>
          <a:xfrm>
            <a:off x="640080" y="1920240"/>
            <a:ext cx="132588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029968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GA360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埋點</a:t>
            </a:r>
            <a:endParaRPr lang="en-US" sz="1400" dirty="0"/>
          </a:p>
        </p:txBody>
      </p:sp>
      <p:sp>
        <p:nvSpPr>
          <p:cNvPr id="9" name="s4_b2"/>
          <p:cNvSpPr/>
          <p:nvPr/>
        </p:nvSpPr>
        <p:spPr>
          <a:xfrm>
            <a:off x="2240280" y="1920240"/>
            <a:ext cx="132588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31720" y="2029968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BigQuery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匯出</a:t>
            </a:r>
            <a:endParaRPr lang="en-US" sz="1400" dirty="0"/>
          </a:p>
        </p:txBody>
      </p:sp>
      <p:sp>
        <p:nvSpPr>
          <p:cNvPr id="11" name="s4_b3"/>
          <p:cNvSpPr/>
          <p:nvPr/>
        </p:nvSpPr>
        <p:spPr>
          <a:xfrm>
            <a:off x="4160520" y="1920240"/>
            <a:ext cx="137160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51960" y="2029968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DMP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ClickHouse</a:t>
            </a:r>
            <a:endParaRPr lang="en-US" sz="1400" dirty="0"/>
          </a:p>
        </p:txBody>
      </p:sp>
      <p:sp>
        <p:nvSpPr>
          <p:cNvPr id="13" name="s4_b4"/>
          <p:cNvSpPr/>
          <p:nvPr/>
        </p:nvSpPr>
        <p:spPr>
          <a:xfrm>
            <a:off x="5760720" y="1920240"/>
            <a:ext cx="137160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52160" y="2029968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分析・分群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標籤・推送</a:t>
            </a:r>
            <a:endParaRPr lang="en-US" sz="1400" dirty="0"/>
          </a:p>
        </p:txBody>
      </p:sp>
      <p:sp>
        <p:nvSpPr>
          <p:cNvPr id="15" name="s4_b5"/>
          <p:cNvSpPr/>
          <p:nvPr/>
        </p:nvSpPr>
        <p:spPr>
          <a:xfrm>
            <a:off x="7315200" y="1920240"/>
            <a:ext cx="118872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06640" y="2029968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MA／CRM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965960" y="219456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8992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219456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8992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532120" y="219456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8992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219456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8992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4_b6"/>
          <p:cNvSpPr/>
          <p:nvPr/>
        </p:nvSpPr>
        <p:spPr>
          <a:xfrm>
            <a:off x="4160520" y="3246120"/>
            <a:ext cx="137160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51960" y="3355848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神策歷史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70 億筆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709160" y="2880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8992"/>
                </a:solidFill>
              </a:rPr>
              <a:t>↑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5760720" y="32918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歷史資料經橋接表轉成同一套事件口徑，與 GA360 新資料在 DMP 會合，客戶代碼銜接 OneID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61188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C8992"/>
                </a:solidFill>
              </a:rPr>
              <a:t>分工線：埋點、GTM、GA360 設定、BigQuery 匯出與 Google 端 SLA 歸 Merkle；匯出之後的載入、OneID、分析、營運、歷史銜接與對帳工具歸 AltaTech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9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GA360 給 Google 口徑的報表，證券業要的交易結合與可推送名單在 DMP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需求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GA360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DMP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行為 × 交易結合分析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沒有交易資料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數據中台交易事件入倉，與行為同一張表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客戶代碼銜接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只有 user_id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歷史與新埋點歸到同一 OneID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可推送的名單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受眾主要用於 Google 廣告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Webhook 推送 MA／CRM，含審批與增量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自定義 SQL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需另開 BigQuery 查詢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唯讀沙盒、依權限表目錄、自動脫敏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本地保存與審計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資料在 Google 雲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本地保存，全操作審計與匯出浮水印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C8992"/>
                </a:solidFill>
              </a:rPr>
              <a:t>對外說法：GA360 看 Google 口徑，DMP 看本地口徑與交易結合，兩者互補不取代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9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四天做出程式級第一版，五種角色都能在示範站操作</a:t>
            </a:r>
            <a:endParaRPr lang="en-US" sz="2400" dirty="0"/>
          </a:p>
        </p:txBody>
      </p:sp>
      <p:sp>
        <p:nvSpPr>
          <p:cNvPr id="3" name="s6_stat0"/>
          <p:cNvSpPr/>
          <p:nvPr/>
        </p:nvSpPr>
        <p:spPr>
          <a:xfrm>
            <a:off x="457200" y="1371600"/>
            <a:ext cx="2560320" cy="18288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6002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139 / 174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4231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OpenAPI 路徑已實作</a:t>
            </a:r>
            <a:endParaRPr lang="en-US" sz="1400" dirty="0"/>
          </a:p>
        </p:txBody>
      </p:sp>
      <p:sp>
        <p:nvSpPr>
          <p:cNvPr id="6" name="s6_stat1"/>
          <p:cNvSpPr/>
          <p:nvPr/>
        </p:nvSpPr>
        <p:spPr>
          <a:xfrm>
            <a:off x="3291840" y="1371600"/>
            <a:ext cx="2560320" cy="18288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6002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18 組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4231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自動化自測，含真 ClickHouse 端到端</a:t>
            </a:r>
            <a:endParaRPr lang="en-US" sz="1400" dirty="0"/>
          </a:p>
        </p:txBody>
      </p:sp>
      <p:sp>
        <p:nvSpPr>
          <p:cNvPr id="9" name="s6_stat2"/>
          <p:cNvSpPr/>
          <p:nvPr/>
        </p:nvSpPr>
        <p:spPr>
          <a:xfrm>
            <a:off x="6126480" y="1371600"/>
            <a:ext cx="2560320" cy="18288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6002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5 種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4231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角色權限可在示範站切換演示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5204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示範站：altatech-dmp-demo.vercel.app（合成資料，不含客戶資料）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CI 對真後端跑瀏覽器主線：登入 → 事件分析 → 書籤 → 看板 → 推送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4754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992"/>
                </a:solidFill>
              </a:rPr>
              <a:t>數字截至 2026-10-17（docs/31 §1）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9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現場操作三段各 4 分鐘：先講神策怎麼做，再操作，最後回到需求表編號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188720"/>
                <a:gridCol w="4023360"/>
                <a:gridCol w="210312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段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角色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步驟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要講的點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① 分析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數據分析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數位開戶轉換看板 → 事件分析改分組 → 存書籤進看板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口徑與神策一致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② 營運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數位經營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分群估數 → 標籤 RFM 分布 → 推送單到 CRM → 交付紀錄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名單不出庫、要審批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③ 治理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資訊管理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權限中心模擬行銷角色 → 日誌告警 → 資料流與 SLA → 系統監控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可審計、可監控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C8992"/>
                </a:solidFill>
              </a:rPr>
              <a:t>對應需求表 A4／A5／C2／C5／D4／E3；備一台本機真後端當備援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9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歷史資料分六步過來，三方對帳決定何時切換</a:t>
            </a:r>
            <a:endParaRPr lang="en-US" sz="2400" dirty="0"/>
          </a:p>
        </p:txBody>
      </p:sp>
      <p:sp>
        <p:nvSpPr>
          <p:cNvPr id="3" name="s8_step0"/>
          <p:cNvSpPr/>
          <p:nvPr/>
        </p:nvSpPr>
        <p:spPr>
          <a:xfrm>
            <a:off x="457200" y="1463040"/>
            <a:ext cx="1216152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5544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1033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盤點</a:t>
            </a:r>
            <a:endParaRPr lang="en-US" sz="1400" dirty="0"/>
          </a:p>
        </p:txBody>
      </p:sp>
      <p:sp>
        <p:nvSpPr>
          <p:cNvPr id="6" name="s8_step1"/>
          <p:cNvSpPr/>
          <p:nvPr/>
        </p:nvSpPr>
        <p:spPr>
          <a:xfrm>
            <a:off x="1856232" y="1463040"/>
            <a:ext cx="1216152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65960" y="15544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947672" y="1874520"/>
            <a:ext cx="1033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必留清單</a:t>
            </a:r>
            <a:endParaRPr lang="en-US" sz="1400" dirty="0"/>
          </a:p>
        </p:txBody>
      </p:sp>
      <p:sp>
        <p:nvSpPr>
          <p:cNvPr id="9" name="s8_step2"/>
          <p:cNvSpPr/>
          <p:nvPr/>
        </p:nvSpPr>
        <p:spPr>
          <a:xfrm>
            <a:off x="3255264" y="1463040"/>
            <a:ext cx="1216152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64992" y="15544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46704" y="1874520"/>
            <a:ext cx="1033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導出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Impala／HDFS</a:t>
            </a:r>
            <a:endParaRPr lang="en-US" sz="1400" dirty="0"/>
          </a:p>
        </p:txBody>
      </p:sp>
      <p:sp>
        <p:nvSpPr>
          <p:cNvPr id="12" name="s8_step3"/>
          <p:cNvSpPr/>
          <p:nvPr/>
        </p:nvSpPr>
        <p:spPr>
          <a:xfrm>
            <a:off x="4654296" y="1463040"/>
            <a:ext cx="1216152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64024" y="15544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745736" y="1874520"/>
            <a:ext cx="1033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橋接表</a:t>
            </a:r>
            <a:endParaRPr lang="en-US" sz="1400" dirty="0"/>
          </a:p>
        </p:txBody>
      </p:sp>
      <p:sp>
        <p:nvSpPr>
          <p:cNvPr id="15" name="s8_step4"/>
          <p:cNvSpPr/>
          <p:nvPr/>
        </p:nvSpPr>
        <p:spPr>
          <a:xfrm>
            <a:off x="6053328" y="1463040"/>
            <a:ext cx="1216152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63056" y="15544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144768" y="1874520"/>
            <a:ext cx="1033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載入</a:t>
            </a:r>
            <a:endParaRPr lang="en-US" sz="1400" dirty="0"/>
          </a:p>
        </p:txBody>
      </p:sp>
      <p:sp>
        <p:nvSpPr>
          <p:cNvPr id="18" name="s8_step5"/>
          <p:cNvSpPr/>
          <p:nvPr/>
        </p:nvSpPr>
        <p:spPr>
          <a:xfrm>
            <a:off x="7452360" y="1463040"/>
            <a:ext cx="1216152" cy="1143000"/>
          </a:xfrm>
          <a:prstGeom prst="roundRect">
            <a:avLst>
              <a:gd name="adj" fmla="val 6400"/>
            </a:avLst>
          </a:prstGeom>
          <a:solidFill>
            <a:schemeClr val="accent6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62088" y="15544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543800" y="1874520"/>
            <a:ext cx="1033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三方對帳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T1–T9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M1（11-20）拿 1 個月真樣本導出載入，M2（12-18）跑完 70 億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並行期從 M3（2027-01）起，每日 T5／T6 對帳，差異 &gt; 5% 開埋點修正單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切換以差異門檻決定，PD 後 4 週補導最終增量與最終對帳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9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與 Merkle 的交接點有四個，橋接表作為埋點規範附件</a:t>
            </a:r>
            <a:endParaRPr lang="en-US" sz="2400" dirty="0"/>
          </a:p>
        </p:txBody>
      </p:sp>
      <p:sp>
        <p:nvSpPr>
          <p:cNvPr id="3" name="s9_card0"/>
          <p:cNvSpPr/>
          <p:nvPr/>
        </p:nvSpPr>
        <p:spPr>
          <a:xfrm>
            <a:off x="457200" y="132588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4" name="s9_dot0"/>
          <p:cNvSpPr/>
          <p:nvPr/>
        </p:nvSpPr>
        <p:spPr>
          <a:xfrm>
            <a:off x="685800" y="15544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727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埋點規範與事件命名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8424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神策事件名 → GA4 事件名的橋接表由我們產，Merkle 依此埋點</a:t>
            </a:r>
            <a:endParaRPr lang="en-US" sz="1300" dirty="0"/>
          </a:p>
        </p:txBody>
      </p:sp>
      <p:sp>
        <p:nvSpPr>
          <p:cNvPr id="8" name="s9_card1"/>
          <p:cNvSpPr/>
          <p:nvPr/>
        </p:nvSpPr>
        <p:spPr>
          <a:xfrm>
            <a:off x="4663440" y="132588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9" name="s9_dot1"/>
          <p:cNvSpPr/>
          <p:nvPr/>
        </p:nvSpPr>
        <p:spPr>
          <a:xfrm>
            <a:off x="4892040" y="15544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15727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BigQuery 匯出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98424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日批前日全量＋串流 intraday；72 小時重寫；GA4 標準 schema</a:t>
            </a:r>
            <a:endParaRPr lang="en-US" sz="1300" dirty="0"/>
          </a:p>
        </p:txBody>
      </p:sp>
      <p:sp>
        <p:nvSpPr>
          <p:cNvPr id="13" name="s9_card2"/>
          <p:cNvSpPr/>
          <p:nvPr/>
        </p:nvSpPr>
        <p:spPr>
          <a:xfrm>
            <a:off x="457200" y="292608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14" name="s9_dot2"/>
          <p:cNvSpPr/>
          <p:nvPr/>
        </p:nvSpPr>
        <p:spPr>
          <a:xfrm>
            <a:off x="685800" y="3154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1729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user_id 口徑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58444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登入後 user_id = 客戶代碼（HMAC），與神策登入 ID 同一把金鑰</a:t>
            </a:r>
            <a:endParaRPr lang="en-US" sz="1300" dirty="0"/>
          </a:p>
        </p:txBody>
      </p:sp>
      <p:sp>
        <p:nvSpPr>
          <p:cNvPr id="18" name="s9_card3"/>
          <p:cNvSpPr/>
          <p:nvPr/>
        </p:nvSpPr>
        <p:spPr>
          <a:xfrm>
            <a:off x="4663440" y="292608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19" name="s9_dot3"/>
          <p:cNvSpPr/>
          <p:nvPr/>
        </p:nvSpPr>
        <p:spPr>
          <a:xfrm>
            <a:off x="4892040" y="3154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9204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31729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並行期對帳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358444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每日 T5／T6，只放筆數與差異率；修正單 SLA 由雙方約定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9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UAT 2027-06-30、正式上線 2027-09-30，比神策到期早 31 天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  <a:gridCol w="402336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里程碑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日期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退出重點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M0 決策與環境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2026-11-02 ～ 11-13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十項待確認拍板、測試環境、真 IdP 接通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M1 盤點與橋接表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2026-11-20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必留清單確認、橋接表交 Merkle、1 個月真樣本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M2 歷史資料進倉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2026-12-18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70 億載入、10 億效能基準回填 SLA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M3 GA360 接入與並行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2027-01-22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GA360 真匯出接入，並行期與每日對帳開始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M4 交易結合與營運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2027-02-26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交易真資料、結合分析、神策分群標籤重建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M5 內部驗收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2027-03-26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安全強化、DR 演練、切換演練、操作手冊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UAT／PD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F0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2027-06-30／09-30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F0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客戶驗收 T1–T9；正式上線、神策停寫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F0FD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9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AltaTech 七人加 ClickHouse 顧問 20 天，三位服務過本客戶神策系統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548640"/>
                <a:gridCol w="502920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角色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人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負責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產品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需求落差簽認、口徑與橋接表、驗收案例與手冊架構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研發 R1 資料與查詢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接入、OneID、查詢編譯、ClickHouse 效能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研發 R2 應用與前端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API、分群標籤推送、權限、前端與示範站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PM（服務過神策）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時程與退出條件、十項待確認、三方協作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分析師 A（服務過神策）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神策盤點、必留清單、T1–T9 對帳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分析師 B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教育訓練、看板重構、上線後交付調優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運維（服務過神策）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神策導出、環境建置、監控與備份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C8992"/>
                </a:solidFill>
              </a:rPr>
              <a:t>全員用 Claude Team 協同產出文件、對帳與測試；客戶端需要窗口、決策會與 UAT 人員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9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四項主要風險都有門檻與退路，最大的一塊是真資料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風險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對策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真資料對不上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M1 就拿 1 個月真樣本，M2 跑 70 億，不等到 UAT 才發現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規模未在 10 億級驗證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M2 做 10 億效能基準，實測後回填 SLA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並行差異不收斂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每日 T5／T6 對帳，差異 &gt; 5% 開埋點修正單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待確認項逾期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M0 決策會，每項附建議預設值與截止日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9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全部採 OSI 開源授權，客戶要付的是基礎設施、GA360 與人力</a:t>
            </a:r>
            <a:endParaRPr lang="en-US" sz="2400" dirty="0"/>
          </a:p>
        </p:txBody>
      </p:sp>
      <p:sp>
        <p:nvSpPr>
          <p:cNvPr id="3" name="s13_stat0"/>
          <p:cNvSpPr/>
          <p:nvPr/>
        </p:nvSpPr>
        <p:spPr>
          <a:xfrm>
            <a:off x="457200" y="1371600"/>
            <a:ext cx="1965960" cy="1920240"/>
          </a:xfrm>
          <a:prstGeom prst="roundRect">
            <a:avLst>
              <a:gd name="adj" fmla="val 3810"/>
            </a:avLst>
          </a:prstGeom>
          <a:solidFill>
            <a:schemeClr val="accent6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087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必付授權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603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第一階段元件皆為開源授權</a:t>
            </a:r>
            <a:endParaRPr lang="en-US" sz="1200" dirty="0"/>
          </a:p>
        </p:txBody>
      </p:sp>
      <p:sp>
        <p:nvSpPr>
          <p:cNvPr id="7" name="s13_stat1"/>
          <p:cNvSpPr/>
          <p:nvPr/>
        </p:nvSpPr>
        <p:spPr>
          <a:xfrm>
            <a:off x="2606040" y="1371600"/>
            <a:ext cx="1965960" cy="1920240"/>
          </a:xfrm>
          <a:prstGeom prst="roundRect">
            <a:avLst>
              <a:gd name="adj" fmla="val 3810"/>
            </a:avLst>
          </a:prstGeom>
          <a:solidFill>
            <a:schemeClr val="accent6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88920" y="15087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2194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copyleft 元件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5603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Grafana OSS，僅內部使用、不散布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37160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客戶付費：GCP 或機房、GA360 與 BigQuery 用量、LINE 訊息方案、專案人力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可選付費：雲端託管、企業支援合約，不是必要條件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每個元件的來源、授權、是否需商用付費列在規格書附錄 B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9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部署可選 GCP 或機房，同一套 Helm、監控、備份與 DR</a:t>
            </a:r>
            <a:endParaRPr lang="en-US" sz="2400" dirty="0"/>
          </a:p>
        </p:txBody>
      </p:sp>
      <p:sp>
        <p:nvSpPr>
          <p:cNvPr id="3" name="s14_card0"/>
          <p:cNvSpPr/>
          <p:nvPr/>
        </p:nvSpPr>
        <p:spPr>
          <a:xfrm>
            <a:off x="457200" y="1325880"/>
            <a:ext cx="402336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GCP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區域 asia-east1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物件儲存用 GCS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用量計費，擴充快</a:t>
            </a:r>
            <a:endParaRPr lang="en-US" sz="1500" dirty="0"/>
          </a:p>
        </p:txBody>
      </p:sp>
      <p:sp>
        <p:nvSpPr>
          <p:cNvPr id="6" name="s14_card1"/>
          <p:cNvSpPr/>
          <p:nvPr/>
        </p:nvSpPr>
        <p:spPr>
          <a:xfrm>
            <a:off x="4663440" y="1325880"/>
            <a:ext cx="402336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508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客戶機房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10312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RKE2 Kubernetes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物件儲存用 SeaweedFS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資料不出機房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機器檔位 A 檔 6 台或 D 檔 3 台，M0 決策會拍板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9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M0 要客戶拍板十項，11-13 前決定</a:t>
            </a:r>
            <a:endParaRPr lang="en-US" sz="2400" dirty="0"/>
          </a:p>
        </p:txBody>
      </p:sp>
      <p:sp>
        <p:nvSpPr>
          <p:cNvPr id="3" name="s15_col0"/>
          <p:cNvSpPr/>
          <p:nvPr/>
        </p:nvSpPr>
        <p:spPr>
          <a:xfrm>
            <a:off x="457200" y="1280160"/>
            <a:ext cx="4023360" cy="3246120"/>
          </a:xfrm>
          <a:prstGeom prst="roundRect">
            <a:avLst>
              <a:gd name="adj" fmla="val 2254"/>
            </a:avLst>
          </a:prstGeom>
          <a:solidFill>
            <a:schemeClr val="bg1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3611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1. 部署環境：GCP 或機房、機器檔位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2. 交易資料提供方式：批次或 Kafka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3. 身分：Entra ID／AD／Keycloak 與角色對照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4. 神策歷史導出方式與並行期長度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5. 隱私門檻：K 值、匯出上限、審計保存年限</a:t>
            </a:r>
            <a:endParaRPr lang="en-US" sz="1400" dirty="0"/>
          </a:p>
        </p:txBody>
      </p:sp>
      <p:sp>
        <p:nvSpPr>
          <p:cNvPr id="5" name="s15_col1"/>
          <p:cNvSpPr/>
          <p:nvPr/>
        </p:nvSpPr>
        <p:spPr>
          <a:xfrm>
            <a:off x="4663440" y="1280160"/>
            <a:ext cx="4023360" cy="3246120"/>
          </a:xfrm>
          <a:prstGeom prst="roundRect">
            <a:avLst>
              <a:gd name="adj" fmla="val 2254"/>
            </a:avLst>
          </a:prstGeom>
          <a:solidFill>
            <a:schemeClr val="bg1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92040" y="1463040"/>
            <a:ext cx="3611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6. 推送接收端規格與增量延遲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7. 自定義 SQL 開放對象與下載上限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8. AI 洞察的 LLM 供應方式與預算（二期）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9. 效能 SLA 在客戶規模實測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10. GA360 BigQuery 匯出區域與費用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9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報價初版（未稅）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9D2D8"/>
                </a:solidFill>
              </a:rPr>
              <a:t>依人員分工與人天單價直算，供內部定價討論；客戶版等週一與 Merkle 對完分工再出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人天單價：產品與研發 25,000，分析師與 CSM 16,000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645920"/>
                <a:gridCol w="40233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角色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單價／人日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本案對應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PMO／產品經理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25,000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產品 1 人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研發工程師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25,000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研發 R1、R2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資料科學家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20,000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未編制；ClickHouse 顧問暫以此價計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專案經理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20,000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PM 1 人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系統工程師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20,000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運維 1 人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CSM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16,000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未編制；列為選配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數據分析師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16,000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分析師 A、B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80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C8992"/>
                </a:solidFill>
              </a:rPr>
              <a:t>單位：新台幣，未稅；不含基礎設施、GA360／BigQuery、LINE 訊息方案與差旅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9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分階段：第一階段只做取代神策所必需的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5120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部署安裝（測試＋正式）、SSO 與權限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GA360 BigQuery 匯出接入、數據中台交易批次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神策近 13 個月歷史導入與並行期對帳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六個分析模組、分群、標籤、名單推送（Webhook）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審批與審計、四個情境看板、一輪教育訓練</a:t>
            </a:r>
            <a:endParaRPr lang="en-US" sz="1500" dirty="0"/>
          </a:p>
        </p:txBody>
      </p:sp>
      <p:sp>
        <p:nvSpPr>
          <p:cNvPr id="4" name="s18_phase"/>
          <p:cNvSpPr/>
          <p:nvPr/>
        </p:nvSpPr>
        <p:spPr>
          <a:xfrm>
            <a:off x="5760720" y="1325880"/>
            <a:ext cx="2926080" cy="3017520"/>
          </a:xfrm>
          <a:prstGeom prst="roundRect">
            <a:avLst>
              <a:gd name="adj" fmla="val 2500"/>
            </a:avLst>
          </a:prstGeom>
          <a:solidFill>
            <a:schemeClr val="accent6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0" y="150876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第一階段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290 人天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規格外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後續模組，需要時再加；一律人天單價 × 人天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480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C8992"/>
                </a:solidFill>
              </a:rPr>
              <a:t>平台功能已大致完成，只計導入、接入、遷移、對帳與驗收；比較基準：神策年費約 6,000,000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9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第一階段 6,180,000 元未稅；保固一年，次年維運 20%</a:t>
            </a:r>
            <a:endParaRPr lang="en-US" sz="2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371600"/>
                <a:gridCol w="1554480"/>
                <a:gridCol w="22860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角色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人天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單價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金額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研發 R1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25,000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1,750,000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研發 R2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25,000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1,250,000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數據分析師 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16,000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800,000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專案經理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20,000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800,000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數據分析師 B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16,000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480,000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系統工程師（運維）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20,000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600,000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產品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25,000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500,000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第一階段合計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F0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290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F0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F0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6,180,000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F0FD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80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C8992"/>
                </a:solidFill>
              </a:rPr>
              <a:t>上線保固一年；次年起維運費＝合約 20%（1,236,000／年）。頭兩年約 7,416,000，低於兩年神策 12,000,000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9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規格外的放後續模組，需要時再加</a:t>
            </a:r>
            <a:endParaRPr lang="en-US" sz="2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1206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22960"/>
                <a:gridCol w="13716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後續模組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人天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金額（未稅）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間隔／分佈／Session／LTV 分析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1,160,000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CDP 標籤同步＋推送排除名單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950,000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AI 問數與洞察（接 LLM）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1,250,000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即時觸發（Flink 規則引擎）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1,900,000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神策歷史超過 13 個月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730,000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CSM 客戶成功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800,000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s20_opt"/>
          <p:cNvSpPr/>
          <p:nvPr/>
        </p:nvSpPr>
        <p:spPr>
          <a:xfrm>
            <a:off x="5760720" y="1188720"/>
            <a:ext cx="2926080" cy="3200400"/>
          </a:xfrm>
          <a:prstGeom prst="roundRect">
            <a:avLst>
              <a:gd name="adj" fmla="val 2500"/>
            </a:avLst>
          </a:prstGeom>
          <a:solidFill>
            <a:schemeClr val="accent6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0" y="1371600"/>
            <a:ext cx="2560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出客戶版前要定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1. 固定總價或人天實報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2. 保固一年；次年維運＝合約 20%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3. 付款：簽約 30%、UAT 30%、上線 30%、驗收 10%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4. 規格更改只走 CR，人天另計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5. 客戶自備：GA360、BigQuery、GCP 或機房、LINE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6. Merkle 分工：不含埋點與 GA360 設定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9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週一會前會：與 Merkle 對齊九點</a:t>
            </a:r>
            <a:endParaRPr lang="en-US" sz="2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240280"/>
                <a:gridCol w="5577840"/>
              </a:tblGrid>
              <a:tr h="31089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#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題目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要 Merkle 確認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分工線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埋點至 BigQuery 匯出歸 Merkle，匯出之後歸 AltaTech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事件命名與橋接表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橋接表作為埋點規範附件，變更雙方簽認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BigQuery 匯出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合約是否含匯出與串流；GCP 專案與付費方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user_id 口徑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GTM 設定時機與來源；App SDK 由誰改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並行期與對帳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埋點修正單 SLA；對帳報表格式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時程相依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GA360 上線日與匯出開通日（M3 前）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簡報分工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Merkle 是否自備 2–3 張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不在客戶面前爭的事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同意「GA360 看 Google 口徑、DMP 看本地口徑」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商務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雙方各自報價；採購時程配合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9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下一步</a:t>
            </a:r>
            <a:endParaRPr lang="en-US" sz="2400" dirty="0"/>
          </a:p>
        </p:txBody>
      </p:sp>
      <p:sp>
        <p:nvSpPr>
          <p:cNvPr id="3" name="s22_card0"/>
          <p:cNvSpPr/>
          <p:nvPr/>
        </p:nvSpPr>
        <p:spPr>
          <a:xfrm>
            <a:off x="457200" y="1371600"/>
            <a:ext cx="1920240" cy="2743200"/>
          </a:xfrm>
          <a:prstGeom prst="roundRect">
            <a:avLst>
              <a:gd name="adj" fmla="val 3810"/>
            </a:avLst>
          </a:prstGeom>
          <a:solidFill>
            <a:schemeClr val="accent6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10-19（一）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Merkle 會前會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對齊九點，更新方案圖與交接點兩張</a:t>
            </a:r>
            <a:endParaRPr lang="en-US" sz="1300" dirty="0"/>
          </a:p>
        </p:txBody>
      </p:sp>
      <p:sp>
        <p:nvSpPr>
          <p:cNvPr id="7" name="s22_card1"/>
          <p:cNvSpPr/>
          <p:nvPr/>
        </p:nvSpPr>
        <p:spPr>
          <a:xfrm>
            <a:off x="2560320" y="1371600"/>
            <a:ext cx="1920240" cy="274320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10-23（五）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20116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客戶高階簡報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74320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三段現場操作、時程與 M0 十項</a:t>
            </a:r>
            <a:endParaRPr lang="en-US" sz="1300" dirty="0"/>
          </a:p>
        </p:txBody>
      </p:sp>
      <p:sp>
        <p:nvSpPr>
          <p:cNvPr id="11" name="s22_card2"/>
          <p:cNvSpPr/>
          <p:nvPr/>
        </p:nvSpPr>
        <p:spPr>
          <a:xfrm>
            <a:off x="4663440" y="1371600"/>
            <a:ext cx="1920240" cy="274320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10-26 起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0116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報價客戶版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74320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定加成與付款節點後送出</a:t>
            </a:r>
            <a:endParaRPr lang="en-US" sz="1300" dirty="0"/>
          </a:p>
        </p:txBody>
      </p:sp>
      <p:sp>
        <p:nvSpPr>
          <p:cNvPr id="15" name="s22_card3"/>
          <p:cNvSpPr/>
          <p:nvPr/>
        </p:nvSpPr>
        <p:spPr>
          <a:xfrm>
            <a:off x="6766560" y="1371600"/>
            <a:ext cx="1920240" cy="274320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11-02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20116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Kick-off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74320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M0 決策會議程與三方窗口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89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taTech DMP">
  <a:themeElements>
    <a:clrScheme name="AltaTech DMP">
      <a:dk1>
        <a:srgbClr val="1C2B33"/>
      </a:dk1>
      <a:lt1>
        <a:srgbClr val="FFFFFF"/>
      </a:lt1>
      <a:dk2>
        <a:srgbClr val="121E2B"/>
      </a:dk2>
      <a:lt2>
        <a:srgbClr val="F7F8FA"/>
      </a:lt2>
      <a:accent1>
        <a:srgbClr val="2C73EA"/>
      </a:accent1>
      <a:accent2>
        <a:srgbClr val="12B5A8"/>
      </a:accent2>
      <a:accent3>
        <a:srgbClr val="D8871F"/>
      </a:accent3>
      <a:accent4>
        <a:srgbClr val="6250D6"/>
      </a:accent4>
      <a:accent5>
        <a:srgbClr val="7C8992"/>
      </a:accent5>
      <a:accent6>
        <a:srgbClr val="E9F0FD"/>
      </a:accent6>
      <a:hlink>
        <a:srgbClr val="2C73EA"/>
      </a:hlink>
      <a:folHlink>
        <a:srgbClr val="6250D6"/>
      </a:folHlink>
    </a:clrScheme>
    <a:fontScheme name="AltaTech DMP">
      <a:majorFont>
        <a:latin typeface="Noto Sans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永豐金證券 DMP 提案簡報初稿與報價初版</dc:title>
  <dc:subject>PptxGenJS Presentation</dc:subject>
  <dc:creator>AltaTech</dc:creator>
  <cp:lastModifiedBy>AltaTech</cp:lastModifiedBy>
  <cp:revision>1</cp:revision>
  <dcterms:created xsi:type="dcterms:W3CDTF">2026-10-18T08:05:13Z</dcterms:created>
  <dcterms:modified xsi:type="dcterms:W3CDTF">2026-10-18T08:05:13Z</dcterms:modified>
</cp:coreProperties>
</file>